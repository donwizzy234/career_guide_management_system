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ource Sans 3" panose="020B0604020202020204" charset="0"/>
      <p:regular r:id="rId17"/>
    </p:embeddedFont>
    <p:embeddedFont>
      <p:font typeface="MuseoModerno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20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Career Guide / Psychometric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Business Requirements Document (BRD) outlines the needs and functionality for a new Career Guidance and Psychometric System.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835235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793790" y="3719393"/>
            <a:ext cx="62906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Purpose of the System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93790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3EEE3"/>
          </a:solidFill>
          <a:ln/>
        </p:spPr>
      </p:sp>
      <p:sp>
        <p:nvSpPr>
          <p:cNvPr id="7" name="Shape 3"/>
          <p:cNvSpPr/>
          <p:nvPr/>
        </p:nvSpPr>
        <p:spPr>
          <a:xfrm>
            <a:off x="1020604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</p:sp>
      <p:sp>
        <p:nvSpPr>
          <p:cNvPr id="9" name="Text 4"/>
          <p:cNvSpPr/>
          <p:nvPr/>
        </p:nvSpPr>
        <p:spPr>
          <a:xfrm>
            <a:off x="1020604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Assist Students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020604" y="639282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 students choose suitable career paths.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5216962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3EEE3"/>
          </a:solidFill>
          <a:ln/>
        </p:spPr>
      </p:sp>
      <p:sp>
        <p:nvSpPr>
          <p:cNvPr id="12" name="Shape 7"/>
          <p:cNvSpPr/>
          <p:nvPr/>
        </p:nvSpPr>
        <p:spPr>
          <a:xfrm>
            <a:off x="5443776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</p:sp>
      <p:sp>
        <p:nvSpPr>
          <p:cNvPr id="14" name="Text 8"/>
          <p:cNvSpPr/>
          <p:nvPr/>
        </p:nvSpPr>
        <p:spPr>
          <a:xfrm>
            <a:off x="5443776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Automated Testing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443776" y="639282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 psychometric testing for insights.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9640133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3EEE3"/>
          </a:solidFill>
          <a:ln/>
        </p:spPr>
      </p:sp>
      <p:sp>
        <p:nvSpPr>
          <p:cNvPr id="17" name="Shape 11"/>
          <p:cNvSpPr/>
          <p:nvPr/>
        </p:nvSpPr>
        <p:spPr>
          <a:xfrm>
            <a:off x="9866948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</p:sp>
      <p:sp>
        <p:nvSpPr>
          <p:cNvPr id="19" name="Text 12"/>
          <p:cNvSpPr/>
          <p:nvPr/>
        </p:nvSpPr>
        <p:spPr>
          <a:xfrm>
            <a:off x="9866948" y="5902404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Intelligent Recommendations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9866948" y="674715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smart career suggestions.</a:t>
            </a:r>
            <a:endParaRPr lang="en-US" sz="1750" dirty="0"/>
          </a:p>
        </p:txBody>
      </p:sp>
      <p:sp>
        <p:nvSpPr>
          <p:cNvPr id="21" name="Rectangle 20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4630400" cy="2835235"/>
          </a:xfrm>
          <a:prstGeom prst="rect">
            <a:avLst/>
          </a:prstGeom>
          <a:solidFill>
            <a:srgbClr val="FFFC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709732" y="968454"/>
            <a:ext cx="5070038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Stakeholders</a:t>
            </a:r>
            <a:endParaRPr lang="en-US" sz="3950" dirty="0"/>
          </a:p>
        </p:txBody>
      </p:sp>
      <p:sp>
        <p:nvSpPr>
          <p:cNvPr id="6" name="Text 2"/>
          <p:cNvSpPr/>
          <p:nvPr/>
        </p:nvSpPr>
        <p:spPr>
          <a:xfrm>
            <a:off x="709732" y="2108954"/>
            <a:ext cx="3192899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Primary Stakeholders</a:t>
            </a:r>
            <a:endParaRPr lang="en-US" sz="2350" dirty="0"/>
          </a:p>
        </p:txBody>
      </p:sp>
      <p:grpSp>
        <p:nvGrpSpPr>
          <p:cNvPr id="24" name="Group 23"/>
          <p:cNvGrpSpPr/>
          <p:nvPr/>
        </p:nvGrpSpPr>
        <p:grpSpPr>
          <a:xfrm>
            <a:off x="1368743" y="2717244"/>
            <a:ext cx="2955846" cy="1168242"/>
            <a:chOff x="1368743" y="2717244"/>
            <a:chExt cx="2955846" cy="1168242"/>
          </a:xfrm>
        </p:grpSpPr>
        <p:sp>
          <p:nvSpPr>
            <p:cNvPr id="8" name="Text 3"/>
            <p:cNvSpPr/>
            <p:nvPr/>
          </p:nvSpPr>
          <p:spPr>
            <a:xfrm>
              <a:off x="1368743" y="2717244"/>
              <a:ext cx="2534960" cy="3168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Students</a:t>
              </a:r>
              <a:endParaRPr lang="en-US" sz="195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1368743" y="3236833"/>
              <a:ext cx="2955846" cy="6486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550" dirty="0">
                  <a:solidFill>
                    <a:srgbClr val="2B415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Direct users seeking career guidance.</a:t>
              </a:r>
              <a:endParaRPr lang="en-US" sz="155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368743" y="4291012"/>
            <a:ext cx="2955846" cy="1485068"/>
            <a:chOff x="1368743" y="4291012"/>
            <a:chExt cx="2955846" cy="1485068"/>
          </a:xfrm>
        </p:grpSpPr>
        <p:sp>
          <p:nvSpPr>
            <p:cNvPr id="11" name="Text 5"/>
            <p:cNvSpPr/>
            <p:nvPr/>
          </p:nvSpPr>
          <p:spPr>
            <a:xfrm>
              <a:off x="1368743" y="4291012"/>
              <a:ext cx="2955846" cy="633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School Guidance Counsellors</a:t>
              </a:r>
              <a:endParaRPr lang="en-US" sz="195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1368743" y="5127427"/>
              <a:ext cx="2955846" cy="6486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550" dirty="0">
                  <a:solidFill>
                    <a:srgbClr val="2B415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Professionals who will utilize system data.</a:t>
              </a:r>
              <a:endParaRPr lang="en-US" sz="1550" dirty="0"/>
            </a:p>
          </p:txBody>
        </p:sp>
      </p:grpSp>
      <p:sp>
        <p:nvSpPr>
          <p:cNvPr id="13" name="Text 7"/>
          <p:cNvSpPr/>
          <p:nvPr/>
        </p:nvSpPr>
        <p:spPr>
          <a:xfrm>
            <a:off x="4827032" y="2108954"/>
            <a:ext cx="3580686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Secondary Stakeholders</a:t>
            </a:r>
            <a:endParaRPr lang="en-US" sz="2350" dirty="0"/>
          </a:p>
        </p:txBody>
      </p:sp>
      <p:grpSp>
        <p:nvGrpSpPr>
          <p:cNvPr id="25" name="Group 24"/>
          <p:cNvGrpSpPr/>
          <p:nvPr/>
        </p:nvGrpSpPr>
        <p:grpSpPr>
          <a:xfrm>
            <a:off x="5486043" y="2717244"/>
            <a:ext cx="2955846" cy="1168242"/>
            <a:chOff x="5486043" y="2717244"/>
            <a:chExt cx="2955846" cy="1168242"/>
          </a:xfrm>
        </p:grpSpPr>
        <p:sp>
          <p:nvSpPr>
            <p:cNvPr id="15" name="Text 8"/>
            <p:cNvSpPr/>
            <p:nvPr/>
          </p:nvSpPr>
          <p:spPr>
            <a:xfrm>
              <a:off x="5486043" y="2717244"/>
              <a:ext cx="2699623" cy="3168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School Administrators</a:t>
              </a:r>
              <a:endParaRPr lang="en-US" sz="1950" dirty="0"/>
            </a:p>
          </p:txBody>
        </p:sp>
        <p:sp>
          <p:nvSpPr>
            <p:cNvPr id="16" name="Text 9"/>
            <p:cNvSpPr/>
            <p:nvPr/>
          </p:nvSpPr>
          <p:spPr>
            <a:xfrm>
              <a:off x="5486043" y="3236833"/>
              <a:ext cx="2955846" cy="6486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550" dirty="0">
                  <a:solidFill>
                    <a:srgbClr val="2B415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Oversee system implementation and usage.</a:t>
              </a:r>
              <a:endParaRPr lang="en-US" sz="1550" dirty="0"/>
            </a:p>
          </p:txBody>
        </p:sp>
      </p:grpSp>
      <p:sp>
        <p:nvSpPr>
          <p:cNvPr id="18" name="Text 10"/>
          <p:cNvSpPr/>
          <p:nvPr/>
        </p:nvSpPr>
        <p:spPr>
          <a:xfrm>
            <a:off x="5486043" y="4291012"/>
            <a:ext cx="253496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Parents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5486043" y="4810601"/>
            <a:ext cx="2955846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Interested in their children's career development.</a:t>
            </a:r>
            <a:endParaRPr lang="en-US" sz="1550" dirty="0"/>
          </a:p>
        </p:txBody>
      </p:sp>
      <p:grpSp>
        <p:nvGrpSpPr>
          <p:cNvPr id="27" name="Group 26"/>
          <p:cNvGrpSpPr/>
          <p:nvPr/>
        </p:nvGrpSpPr>
        <p:grpSpPr>
          <a:xfrm>
            <a:off x="5486043" y="5864781"/>
            <a:ext cx="2955846" cy="1168241"/>
            <a:chOff x="5486043" y="5864781"/>
            <a:chExt cx="2955846" cy="1168241"/>
          </a:xfrm>
        </p:grpSpPr>
        <p:sp>
          <p:nvSpPr>
            <p:cNvPr id="21" name="Text 12"/>
            <p:cNvSpPr/>
            <p:nvPr/>
          </p:nvSpPr>
          <p:spPr>
            <a:xfrm>
              <a:off x="5486043" y="5864781"/>
              <a:ext cx="2534960" cy="3168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Developers / IT Staff</a:t>
              </a:r>
              <a:endParaRPr lang="en-US" sz="1950" dirty="0"/>
            </a:p>
          </p:txBody>
        </p:sp>
        <p:sp>
          <p:nvSpPr>
            <p:cNvPr id="22" name="Text 13"/>
            <p:cNvSpPr/>
            <p:nvPr/>
          </p:nvSpPr>
          <p:spPr>
            <a:xfrm>
              <a:off x="5486043" y="6384369"/>
              <a:ext cx="2955846" cy="6486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550" dirty="0">
                  <a:solidFill>
                    <a:srgbClr val="2B415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Responsible for system development and maintenance.</a:t>
              </a:r>
              <a:endParaRPr lang="en-US" sz="155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9144000" y="0"/>
            <a:ext cx="5656521" cy="8420986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583049"/>
            <a:ext cx="7166967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Core Business Requirements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2711" y="1970008"/>
            <a:ext cx="6477833" cy="1543288"/>
          </a:xfrm>
          <a:prstGeom prst="roundRect">
            <a:avLst>
              <a:gd name="adj" fmla="val 7110"/>
            </a:avLst>
          </a:prstGeom>
          <a:solidFill>
            <a:srgbClr val="FFFCF5"/>
          </a:solidFill>
          <a:ln/>
        </p:spPr>
      </p:sp>
      <p:sp>
        <p:nvSpPr>
          <p:cNvPr id="4" name="Shape 2"/>
          <p:cNvSpPr/>
          <p:nvPr/>
        </p:nvSpPr>
        <p:spPr>
          <a:xfrm>
            <a:off x="732711" y="1947148"/>
            <a:ext cx="6477833" cy="9144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656040"/>
            <a:ext cx="628055" cy="628055"/>
          </a:xfrm>
          <a:prstGeom prst="roundRect">
            <a:avLst>
              <a:gd name="adj" fmla="val 145592"/>
            </a:avLst>
          </a:prstGeom>
          <a:solidFill>
            <a:srgbClr val="325F7B"/>
          </a:solidFill>
          <a:ln/>
        </p:spPr>
      </p:sp>
      <p:sp>
        <p:nvSpPr>
          <p:cNvPr id="6" name="Text 4"/>
          <p:cNvSpPr/>
          <p:nvPr/>
        </p:nvSpPr>
        <p:spPr>
          <a:xfrm>
            <a:off x="3845897" y="1813084"/>
            <a:ext cx="25122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64883" y="2493407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Student Profiles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64883" y="2946083"/>
            <a:ext cx="601349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Allow registration and profile creation.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9856" y="1970008"/>
            <a:ext cx="6477833" cy="1543288"/>
          </a:xfrm>
          <a:prstGeom prst="roundRect">
            <a:avLst>
              <a:gd name="adj" fmla="val 7110"/>
            </a:avLst>
          </a:prstGeom>
          <a:solidFill>
            <a:srgbClr val="FFFCF5"/>
          </a:solidFill>
          <a:ln/>
        </p:spPr>
      </p:sp>
      <p:sp>
        <p:nvSpPr>
          <p:cNvPr id="10" name="Shape 8"/>
          <p:cNvSpPr/>
          <p:nvPr/>
        </p:nvSpPr>
        <p:spPr>
          <a:xfrm>
            <a:off x="7419856" y="1947148"/>
            <a:ext cx="6477833" cy="9144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4686" y="1656040"/>
            <a:ext cx="628055" cy="628055"/>
          </a:xfrm>
          <a:prstGeom prst="roundRect">
            <a:avLst>
              <a:gd name="adj" fmla="val 145592"/>
            </a:avLst>
          </a:prstGeom>
          <a:solidFill>
            <a:srgbClr val="325F7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33043" y="1813084"/>
            <a:ext cx="25122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52028" y="2493407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Secure Login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652028" y="2946083"/>
            <a:ext cx="601349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must log in with secure credentials.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2711" y="4036576"/>
            <a:ext cx="6477833" cy="1543288"/>
          </a:xfrm>
          <a:prstGeom prst="roundRect">
            <a:avLst>
              <a:gd name="adj" fmla="val 7110"/>
            </a:avLst>
          </a:prstGeom>
          <a:solidFill>
            <a:srgbClr val="FFF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2711" y="4013716"/>
            <a:ext cx="6477833" cy="9144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3722608"/>
            <a:ext cx="628055" cy="628055"/>
          </a:xfrm>
          <a:prstGeom prst="roundRect">
            <a:avLst>
              <a:gd name="adj" fmla="val 145592"/>
            </a:avLst>
          </a:prstGeom>
          <a:solidFill>
            <a:srgbClr val="325F7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5897" y="3879652"/>
            <a:ext cx="25122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4883" y="4559975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Psychometric Test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64883" y="5012650"/>
            <a:ext cx="601349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a comprehensive career test.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9856" y="4036576"/>
            <a:ext cx="6477833" cy="1543288"/>
          </a:xfrm>
          <a:prstGeom prst="roundRect">
            <a:avLst>
              <a:gd name="adj" fmla="val 7110"/>
            </a:avLst>
          </a:prstGeom>
          <a:solidFill>
            <a:srgbClr val="FFFC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419856" y="4013716"/>
            <a:ext cx="6477833" cy="9144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44686" y="3722608"/>
            <a:ext cx="628055" cy="628055"/>
          </a:xfrm>
          <a:prstGeom prst="roundRect">
            <a:avLst>
              <a:gd name="adj" fmla="val 145592"/>
            </a:avLst>
          </a:prstGeom>
          <a:solidFill>
            <a:srgbClr val="325F7B"/>
          </a:solidFill>
          <a:ln/>
        </p:spPr>
      </p:sp>
      <p:sp>
        <p:nvSpPr>
          <p:cNvPr id="24" name="Text 22"/>
          <p:cNvSpPr/>
          <p:nvPr/>
        </p:nvSpPr>
        <p:spPr>
          <a:xfrm>
            <a:off x="10533043" y="3879652"/>
            <a:ext cx="25122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652028" y="4559975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Career Mapping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7652028" y="5012650"/>
            <a:ext cx="601349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 responses to predefined career fields.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2711" y="6103144"/>
            <a:ext cx="6477833" cy="1543288"/>
          </a:xfrm>
          <a:prstGeom prst="roundRect">
            <a:avLst>
              <a:gd name="adj" fmla="val 7110"/>
            </a:avLst>
          </a:prstGeom>
          <a:solidFill>
            <a:srgbClr val="FFFCF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711" y="6080284"/>
            <a:ext cx="6477833" cy="9144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540" y="5789176"/>
            <a:ext cx="628055" cy="628055"/>
          </a:xfrm>
          <a:prstGeom prst="roundRect">
            <a:avLst>
              <a:gd name="adj" fmla="val 145592"/>
            </a:avLst>
          </a:prstGeom>
          <a:solidFill>
            <a:srgbClr val="325F7B"/>
          </a:solidFill>
          <a:ln/>
        </p:spPr>
      </p:sp>
      <p:sp>
        <p:nvSpPr>
          <p:cNvPr id="30" name="Text 28"/>
          <p:cNvSpPr/>
          <p:nvPr/>
        </p:nvSpPr>
        <p:spPr>
          <a:xfrm>
            <a:off x="3845897" y="5946219"/>
            <a:ext cx="25122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5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64883" y="6626543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Automated Scoring</a:t>
            </a:r>
            <a:endParaRPr lang="en-US" sz="2050" dirty="0"/>
          </a:p>
        </p:txBody>
      </p:sp>
      <p:sp>
        <p:nvSpPr>
          <p:cNvPr id="32" name="Text 30"/>
          <p:cNvSpPr/>
          <p:nvPr/>
        </p:nvSpPr>
        <p:spPr>
          <a:xfrm>
            <a:off x="964883" y="7079218"/>
            <a:ext cx="601349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 scores automatically.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19856" y="6103144"/>
            <a:ext cx="6477833" cy="1543288"/>
          </a:xfrm>
          <a:prstGeom prst="roundRect">
            <a:avLst>
              <a:gd name="adj" fmla="val 7110"/>
            </a:avLst>
          </a:prstGeom>
          <a:solidFill>
            <a:srgbClr val="FFFCF5"/>
          </a:solidFill>
          <a:ln/>
        </p:spPr>
      </p:sp>
      <p:sp>
        <p:nvSpPr>
          <p:cNvPr id="34" name="Shape 32"/>
          <p:cNvSpPr/>
          <p:nvPr/>
        </p:nvSpPr>
        <p:spPr>
          <a:xfrm>
            <a:off x="7419856" y="6080284"/>
            <a:ext cx="6477833" cy="9144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44686" y="5789176"/>
            <a:ext cx="628055" cy="628055"/>
          </a:xfrm>
          <a:prstGeom prst="roundRect">
            <a:avLst>
              <a:gd name="adj" fmla="val 145592"/>
            </a:avLst>
          </a:prstGeom>
          <a:solidFill>
            <a:srgbClr val="325F7B"/>
          </a:solidFill>
          <a:ln/>
        </p:spPr>
      </p:sp>
      <p:sp>
        <p:nvSpPr>
          <p:cNvPr id="36" name="Text 34"/>
          <p:cNvSpPr/>
          <p:nvPr/>
        </p:nvSpPr>
        <p:spPr>
          <a:xfrm>
            <a:off x="10533043" y="5946219"/>
            <a:ext cx="25122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6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7652028" y="6626543"/>
            <a:ext cx="3233976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Career Recommendations</a:t>
            </a:r>
            <a:endParaRPr lang="en-US" sz="2050" dirty="0"/>
          </a:p>
        </p:txBody>
      </p:sp>
      <p:sp>
        <p:nvSpPr>
          <p:cNvPr id="38" name="Text 36"/>
          <p:cNvSpPr/>
          <p:nvPr/>
        </p:nvSpPr>
        <p:spPr>
          <a:xfrm>
            <a:off x="7652028" y="7079218"/>
            <a:ext cx="601349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 careers based on test results.</a:t>
            </a:r>
            <a:endParaRPr lang="en-US" sz="1600" dirty="0"/>
          </a:p>
        </p:txBody>
      </p:sp>
      <p:sp>
        <p:nvSpPr>
          <p:cNvPr id="39" name="Rectangle 38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296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Admin &amp; Data Management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42511"/>
            <a:ext cx="3501509" cy="1760577"/>
          </a:xfrm>
          <a:prstGeom prst="roundRect">
            <a:avLst>
              <a:gd name="adj" fmla="val 30921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169325"/>
            <a:ext cx="2900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Admin Management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750469"/>
            <a:ext cx="30478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questions, careers, and options.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929902"/>
            <a:ext cx="3501509" cy="1760577"/>
          </a:xfrm>
          <a:prstGeom prst="roundRect">
            <a:avLst>
              <a:gd name="adj" fmla="val 30921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51567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View Results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5737860"/>
            <a:ext cx="30478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can view student test results.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342721" y="2942511"/>
            <a:ext cx="3501509" cy="1760577"/>
          </a:xfrm>
          <a:prstGeom prst="roundRect">
            <a:avLst>
              <a:gd name="adj" fmla="val 30921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10569535" y="3169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Secure Data Storage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69535" y="3750469"/>
            <a:ext cx="30478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data must be stored securely in a database.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342721" y="4929902"/>
            <a:ext cx="3501509" cy="2114907"/>
          </a:xfrm>
          <a:prstGeom prst="roundRect">
            <a:avLst>
              <a:gd name="adj" fmla="val 25740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10569535" y="5156716"/>
            <a:ext cx="304788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69535" y="6092190"/>
            <a:ext cx="30478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simple and intuitive interfaces.</a:t>
            </a:r>
            <a:endParaRPr lang="en-US" sz="1750" dirty="0"/>
          </a:p>
        </p:txBody>
      </p:sp>
      <p:sp>
        <p:nvSpPr>
          <p:cNvPr id="16" name="Rectangle 15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004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8" y="3050500"/>
            <a:ext cx="9575483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Functional Requirements: Student View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00088" y="3975616"/>
            <a:ext cx="6515100" cy="600075"/>
          </a:xfrm>
          <a:prstGeom prst="roundRect">
            <a:avLst>
              <a:gd name="adj" fmla="val 480030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3807619" y="4088130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900113" y="4775716"/>
            <a:ext cx="250043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Account Creation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00113" y="5208270"/>
            <a:ext cx="6115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can create and update their profiles.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5213" y="3975616"/>
            <a:ext cx="6515100" cy="600075"/>
          </a:xfrm>
          <a:prstGeom prst="roundRect">
            <a:avLst>
              <a:gd name="adj" fmla="val 480030"/>
            </a:avLst>
          </a:prstGeom>
          <a:solidFill>
            <a:srgbClr val="F3EEE3"/>
          </a:solidFill>
          <a:ln/>
        </p:spPr>
      </p:sp>
      <p:sp>
        <p:nvSpPr>
          <p:cNvPr id="9" name="Text 6"/>
          <p:cNvSpPr/>
          <p:nvPr/>
        </p:nvSpPr>
        <p:spPr>
          <a:xfrm>
            <a:off x="10522744" y="4088130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7615238" y="4775716"/>
            <a:ext cx="250043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Login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615238" y="5208270"/>
            <a:ext cx="6115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can log in with email and password.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0088" y="5928360"/>
            <a:ext cx="6515100" cy="600075"/>
          </a:xfrm>
          <a:prstGeom prst="roundRect">
            <a:avLst>
              <a:gd name="adj" fmla="val 480030"/>
            </a:avLst>
          </a:prstGeom>
          <a:solidFill>
            <a:srgbClr val="F3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3807619" y="6040874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900113" y="6728460"/>
            <a:ext cx="250043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Take Test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00113" y="7161014"/>
            <a:ext cx="6115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can take the career test, answering all questions.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415213" y="5928360"/>
            <a:ext cx="6515100" cy="600075"/>
          </a:xfrm>
          <a:prstGeom prst="roundRect">
            <a:avLst>
              <a:gd name="adj" fmla="val 480030"/>
            </a:avLst>
          </a:prstGeom>
          <a:solidFill>
            <a:srgbClr val="F3EEE3"/>
          </a:solidFill>
          <a:ln/>
        </p:spPr>
      </p:sp>
      <p:sp>
        <p:nvSpPr>
          <p:cNvPr id="17" name="Text 14"/>
          <p:cNvSpPr/>
          <p:nvPr/>
        </p:nvSpPr>
        <p:spPr>
          <a:xfrm>
            <a:off x="10522744" y="6040874"/>
            <a:ext cx="30003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7615238" y="6728460"/>
            <a:ext cx="250043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View Results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15238" y="7161014"/>
            <a:ext cx="6115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displays recommended careers and result history.</a:t>
            </a:r>
            <a:endParaRPr lang="en-US" sz="1550" dirty="0"/>
          </a:p>
        </p:txBody>
      </p:sp>
      <p:sp>
        <p:nvSpPr>
          <p:cNvPr id="20" name="Rectangle 19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58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Functional Requirements: Admin 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33531"/>
            <a:ext cx="7556421" cy="1367909"/>
          </a:xfrm>
          <a:prstGeom prst="roundRect">
            <a:avLst>
              <a:gd name="adj" fmla="val 2487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4270" y="2564011"/>
            <a:ext cx="907256" cy="1306949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6" name="Text 3"/>
          <p:cNvSpPr/>
          <p:nvPr/>
        </p:nvSpPr>
        <p:spPr>
          <a:xfrm>
            <a:off x="1107758" y="30047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958340" y="2790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Admin Login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58340" y="3281243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can securely log in to the system.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128254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4270" y="4158734"/>
            <a:ext cx="907256" cy="1669852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1107758" y="47809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958340" y="4385548"/>
            <a:ext cx="30627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Content Management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58340" y="4875967"/>
            <a:ext cx="61345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can add, edit, and delete careers, questions, and test options.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6085880"/>
            <a:ext cx="7556421" cy="1367909"/>
          </a:xfrm>
          <a:prstGeom prst="roundRect">
            <a:avLst>
              <a:gd name="adj" fmla="val 2487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4270" y="6116360"/>
            <a:ext cx="907256" cy="1306949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16" name="Text 13"/>
          <p:cNvSpPr/>
          <p:nvPr/>
        </p:nvSpPr>
        <p:spPr>
          <a:xfrm>
            <a:off x="1107758" y="65571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1958340" y="6343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Student Oversight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958340" y="6833592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can view registered students and their test results.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81837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Non-Functional Requirements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Pages load within 3 seconds; supports 200-500 concurrent users.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Security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Hashed passwords, admin access control, SQL injection prevention.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7995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Usability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Intuitive interface; test completion within 10-15 minutes.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99% availability; automated backup support.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5235893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Compatibility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 work on major web browsers.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4554"/>
            <a:ext cx="7954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Rules &amp; Constraints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03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Rules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27552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3150751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test questions must be completed before results appear.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09205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396728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career needs at least one mapped test option.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90859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9" name="Text 7"/>
          <p:cNvSpPr/>
          <p:nvPr/>
        </p:nvSpPr>
        <p:spPr>
          <a:xfrm>
            <a:off x="1133951" y="478381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accounts cannot be created by students.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72512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11" name="Text 9"/>
          <p:cNvSpPr/>
          <p:nvPr/>
        </p:nvSpPr>
        <p:spPr>
          <a:xfrm>
            <a:off x="1133951" y="5600343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can take the test once, unless reset by admin.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54165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951" y="6416873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selected option contributes to only one career.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24703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Constraints</a:t>
            </a:r>
            <a:endParaRPr lang="en-US" sz="2650" dirty="0"/>
          </a:p>
        </p:txBody>
      </p:sp>
      <p:sp>
        <p:nvSpPr>
          <p:cNvPr id="15" name="Shape 13"/>
          <p:cNvSpPr/>
          <p:nvPr/>
        </p:nvSpPr>
        <p:spPr>
          <a:xfrm>
            <a:off x="7599521" y="327552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16" name="Text 14"/>
          <p:cNvSpPr/>
          <p:nvPr/>
        </p:nvSpPr>
        <p:spPr>
          <a:xfrm>
            <a:off x="7939683" y="3150751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using PHP and MySQL.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99521" y="409205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18" name="Text 16"/>
          <p:cNvSpPr/>
          <p:nvPr/>
        </p:nvSpPr>
        <p:spPr>
          <a:xfrm>
            <a:off x="7939683" y="396728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on standard school computer lab setup.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99521" y="490859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325F7B"/>
          </a:solidFill>
          <a:ln/>
        </p:spPr>
      </p:sp>
      <p:sp>
        <p:nvSpPr>
          <p:cNvPr id="20" name="Text 18"/>
          <p:cNvSpPr/>
          <p:nvPr/>
        </p:nvSpPr>
        <p:spPr>
          <a:xfrm>
            <a:off x="7939683" y="478381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connection may not always be available.</a:t>
            </a:r>
            <a:endParaRPr lang="en-US" sz="1750" dirty="0"/>
          </a:p>
        </p:txBody>
      </p:sp>
      <p:sp>
        <p:nvSpPr>
          <p:cNvPr id="21" name="Rectangle 20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362" y="981313"/>
            <a:ext cx="6494621" cy="54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Success Criteria &amp; Assumptions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362" y="1960602"/>
            <a:ext cx="261163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Success Criteria</a:t>
            </a:r>
            <a:endParaRPr lang="en-US" sz="2050" dirty="0"/>
          </a:p>
        </p:txBody>
      </p:sp>
      <p:sp>
        <p:nvSpPr>
          <p:cNvPr id="5" name="Shape 2"/>
          <p:cNvSpPr/>
          <p:nvPr/>
        </p:nvSpPr>
        <p:spPr>
          <a:xfrm>
            <a:off x="609362" y="2482929"/>
            <a:ext cx="3750231" cy="4569500"/>
          </a:xfrm>
          <a:prstGeom prst="roundRect">
            <a:avLst>
              <a:gd name="adj" fmla="val 696"/>
            </a:avLst>
          </a:prstGeom>
          <a:solidFill>
            <a:srgbClr val="F3EEE3"/>
          </a:solidFill>
          <a:ln/>
        </p:spPr>
      </p:sp>
      <p:sp>
        <p:nvSpPr>
          <p:cNvPr id="6" name="Shape 3"/>
          <p:cNvSpPr/>
          <p:nvPr/>
        </p:nvSpPr>
        <p:spPr>
          <a:xfrm>
            <a:off x="609362" y="2482929"/>
            <a:ext cx="3750231" cy="1072753"/>
          </a:xfrm>
          <a:prstGeom prst="roundRect">
            <a:avLst>
              <a:gd name="adj" fmla="val 2435"/>
            </a:avLst>
          </a:prstGeom>
          <a:solidFill>
            <a:srgbClr val="F3EEE3"/>
          </a:solidFill>
          <a:ln/>
        </p:spPr>
      </p:sp>
      <p:sp>
        <p:nvSpPr>
          <p:cNvPr id="7" name="Text 4"/>
          <p:cNvSpPr/>
          <p:nvPr/>
        </p:nvSpPr>
        <p:spPr>
          <a:xfrm>
            <a:off x="783431" y="2656999"/>
            <a:ext cx="293167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Accurate Recommendations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3431" y="3103126"/>
            <a:ext cx="3402092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receive precise career guidance.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9362" y="3555683"/>
            <a:ext cx="3750231" cy="1072753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10" name="Shape 7"/>
          <p:cNvSpPr/>
          <p:nvPr/>
        </p:nvSpPr>
        <p:spPr>
          <a:xfrm>
            <a:off x="609362" y="3555683"/>
            <a:ext cx="3750231" cy="22860"/>
          </a:xfrm>
          <a:prstGeom prst="roundRect">
            <a:avLst>
              <a:gd name="adj" fmla="val 114246"/>
            </a:avLst>
          </a:prstGeom>
          <a:solidFill>
            <a:srgbClr val="D9D4C9"/>
          </a:solidFill>
          <a:ln/>
        </p:spPr>
      </p:sp>
      <p:sp>
        <p:nvSpPr>
          <p:cNvPr id="11" name="Text 8"/>
          <p:cNvSpPr/>
          <p:nvPr/>
        </p:nvSpPr>
        <p:spPr>
          <a:xfrm>
            <a:off x="783431" y="3729752"/>
            <a:ext cx="2792254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Easy Admin Management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3431" y="4175879"/>
            <a:ext cx="3402092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can effortlessly manage system data.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9362" y="4628436"/>
            <a:ext cx="3750231" cy="135124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362" y="4628436"/>
            <a:ext cx="3750231" cy="22860"/>
          </a:xfrm>
          <a:prstGeom prst="roundRect">
            <a:avLst>
              <a:gd name="adj" fmla="val 114246"/>
            </a:avLst>
          </a:prstGeom>
          <a:solidFill>
            <a:srgbClr val="D9D4C9"/>
          </a:solidFill>
          <a:ln/>
        </p:spPr>
      </p:sp>
      <p:sp>
        <p:nvSpPr>
          <p:cNvPr id="15" name="Text 12"/>
          <p:cNvSpPr/>
          <p:nvPr/>
        </p:nvSpPr>
        <p:spPr>
          <a:xfrm>
            <a:off x="783431" y="4802505"/>
            <a:ext cx="2176343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Reduced Workload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83431" y="5248632"/>
            <a:ext cx="3402092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Guidance counsellors experience less administrative burden.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9362" y="5979676"/>
            <a:ext cx="3750231" cy="1072753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362" y="5979676"/>
            <a:ext cx="3750231" cy="22860"/>
          </a:xfrm>
          <a:prstGeom prst="roundRect">
            <a:avLst>
              <a:gd name="adj" fmla="val 114246"/>
            </a:avLst>
          </a:prstGeom>
          <a:solidFill>
            <a:srgbClr val="D9D4C9"/>
          </a:solidFill>
          <a:ln/>
        </p:spPr>
      </p:sp>
      <p:sp>
        <p:nvSpPr>
          <p:cNvPr id="19" name="Text 16"/>
          <p:cNvSpPr/>
          <p:nvPr/>
        </p:nvSpPr>
        <p:spPr>
          <a:xfrm>
            <a:off x="783431" y="6153745"/>
            <a:ext cx="287833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Improved Decision-Making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83431" y="6599873"/>
            <a:ext cx="3402092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report better career choices.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792028" y="1960602"/>
            <a:ext cx="261163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Assumptions</a:t>
            </a:r>
            <a:endParaRPr lang="en-US" sz="2050" dirty="0"/>
          </a:p>
        </p:txBody>
      </p:sp>
      <p:sp>
        <p:nvSpPr>
          <p:cNvPr id="22" name="Shape 19"/>
          <p:cNvSpPr/>
          <p:nvPr/>
        </p:nvSpPr>
        <p:spPr>
          <a:xfrm>
            <a:off x="4792028" y="2482929"/>
            <a:ext cx="3750231" cy="3496747"/>
          </a:xfrm>
          <a:prstGeom prst="roundRect">
            <a:avLst>
              <a:gd name="adj" fmla="val 747"/>
            </a:avLst>
          </a:prstGeom>
          <a:solidFill>
            <a:srgbClr val="F3EEE3"/>
          </a:solidFill>
          <a:ln/>
        </p:spPr>
      </p:sp>
      <p:sp>
        <p:nvSpPr>
          <p:cNvPr id="23" name="Shape 20"/>
          <p:cNvSpPr/>
          <p:nvPr/>
        </p:nvSpPr>
        <p:spPr>
          <a:xfrm>
            <a:off x="4792028" y="2482929"/>
            <a:ext cx="3750231" cy="1351240"/>
          </a:xfrm>
          <a:prstGeom prst="roundRect">
            <a:avLst>
              <a:gd name="adj" fmla="val 1933"/>
            </a:avLst>
          </a:prstGeom>
          <a:solidFill>
            <a:srgbClr val="F3EEE3"/>
          </a:solidFill>
          <a:ln/>
        </p:spPr>
      </p:sp>
      <p:sp>
        <p:nvSpPr>
          <p:cNvPr id="24" name="Text 21"/>
          <p:cNvSpPr/>
          <p:nvPr/>
        </p:nvSpPr>
        <p:spPr>
          <a:xfrm>
            <a:off x="4966097" y="2656999"/>
            <a:ext cx="221789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Student Tech Literacy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966097" y="3103126"/>
            <a:ext cx="3402092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understand basic computer operations.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792028" y="3834170"/>
            <a:ext cx="3750231" cy="1072753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27" name="Shape 24"/>
          <p:cNvSpPr/>
          <p:nvPr/>
        </p:nvSpPr>
        <p:spPr>
          <a:xfrm>
            <a:off x="4792028" y="3834170"/>
            <a:ext cx="3750231" cy="22860"/>
          </a:xfrm>
          <a:prstGeom prst="roundRect">
            <a:avLst>
              <a:gd name="adj" fmla="val 114246"/>
            </a:avLst>
          </a:prstGeom>
          <a:solidFill>
            <a:srgbClr val="D9D4C9"/>
          </a:solidFill>
          <a:ln/>
        </p:spPr>
      </p:sp>
      <p:sp>
        <p:nvSpPr>
          <p:cNvPr id="28" name="Text 25"/>
          <p:cNvSpPr/>
          <p:nvPr/>
        </p:nvSpPr>
        <p:spPr>
          <a:xfrm>
            <a:off x="4966097" y="4008239"/>
            <a:ext cx="26723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Admin Career Knowledge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966097" y="4454366"/>
            <a:ext cx="3402092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is knowledgeable about career fields.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4792028" y="4906923"/>
            <a:ext cx="3750231" cy="1072753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1" name="Shape 28"/>
          <p:cNvSpPr/>
          <p:nvPr/>
        </p:nvSpPr>
        <p:spPr>
          <a:xfrm>
            <a:off x="4792028" y="4906923"/>
            <a:ext cx="3750231" cy="22860"/>
          </a:xfrm>
          <a:prstGeom prst="roundRect">
            <a:avLst>
              <a:gd name="adj" fmla="val 114246"/>
            </a:avLst>
          </a:prstGeom>
          <a:solidFill>
            <a:srgbClr val="D9D4C9"/>
          </a:solidFill>
          <a:ln/>
        </p:spPr>
      </p:sp>
      <p:sp>
        <p:nvSpPr>
          <p:cNvPr id="32" name="Text 29"/>
          <p:cNvSpPr/>
          <p:nvPr/>
        </p:nvSpPr>
        <p:spPr>
          <a:xfrm>
            <a:off x="4966097" y="5080992"/>
            <a:ext cx="2176343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Updated Info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4966097" y="5527119"/>
            <a:ext cx="3402092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School provides current career information.</a:t>
            </a:r>
            <a:endParaRPr lang="en-US" sz="1350" dirty="0"/>
          </a:p>
        </p:txBody>
      </p:sp>
      <p:sp>
        <p:nvSpPr>
          <p:cNvPr id="34" name="Rectangle 33"/>
          <p:cNvSpPr/>
          <p:nvPr/>
        </p:nvSpPr>
        <p:spPr>
          <a:xfrm>
            <a:off x="0" y="7793664"/>
            <a:ext cx="14630400" cy="435935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519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Source Sans 3</vt:lpstr>
      <vt:lpstr>Arial</vt:lpstr>
      <vt:lpstr>MuseoModerno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Ikenna Ilono</dc:creator>
  <cp:lastModifiedBy>Ikenna Ilono</cp:lastModifiedBy>
  <cp:revision>3</cp:revision>
  <dcterms:created xsi:type="dcterms:W3CDTF">2025-12-01T15:14:47Z</dcterms:created>
  <dcterms:modified xsi:type="dcterms:W3CDTF">2025-12-01T15:29:29Z</dcterms:modified>
</cp:coreProperties>
</file>